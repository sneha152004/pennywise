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6366F1"/>
                </a:solidFill>
              </a:defRPr>
            </a:pPr>
            <a:r>
              <a:t>PennyWise</a:t>
            </a:r>
          </a:p>
          <a:p>
            <a:pPr>
              <a:spcAft>
                <a:spcPts val="3000"/>
              </a:spcAft>
              <a:defRPr sz="2200" b="1">
                <a:solidFill>
                  <a:srgbClr val="F8FAFC"/>
                </a:solidFill>
              </a:defRPr>
            </a:pPr>
            <a:r>
              <a:t>AI-Powered Personal Finance &amp; Behavioral Economics Platform</a:t>
            </a:r>
          </a:p>
          <a:p>
            <a:pPr>
              <a:defRPr sz="1600" b="1">
                <a:solidFill>
                  <a:srgbClr val="10B981"/>
                </a:solidFill>
              </a:defRPr>
            </a:pPr>
            <a:r>
              <a:t>Presented by: Sneha  |  Roll No: 2105152004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Bachelor of Technology in Computer Science &amp; Engineering</a:t>
            </a:r>
            <a:br/>
            <a:r>
              <a:t>School of Computer Engineering — KIIT Deemed to be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Problem Statement &amp; Project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F4444"/>
                </a:solidFill>
              </a:defRPr>
            </a:pPr>
            <a:r>
              <a:t>Traditional Finance Apps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Record numbers without explaining behavioral causes.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Ignore emotional spending triggers (stress, boredom, impulse).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Fail to quantify long-term impact on savings goals.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Lack interactive feedback to prevent impulse spending.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PennyWise Solution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Combines transaction records with behavioral psychology.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Transparent 6-weight Regret Predictor Engine (0-100 score).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Impulse Lock cooling-off timer with real-time AI advice.</a:t>
            </a:r>
          </a:p>
          <a:p>
            <a:pPr>
              <a:spcBef>
                <a:spcPts val="1200"/>
              </a:spcBef>
              <a:defRPr sz="1400">
                <a:solidFill>
                  <a:srgbClr val="F8FAFC"/>
                </a:solidFill>
              </a:defRPr>
            </a:pPr>
            <a:r>
              <a:t>• Gamification (XP, levels, badges, daily savings missions).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System Architecture &amp; Tech Stack</a:t>
            </a:r>
          </a:p>
        </p:txBody>
      </p:sp>
      <p:pic>
        <p:nvPicPr>
          <p:cNvPr id="4" name="Picture 3" descr="fig_3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Use Case Model &amp; Data Flow Architecture</a:t>
            </a:r>
          </a:p>
        </p:txBody>
      </p:sp>
      <p:pic>
        <p:nvPicPr>
          <p:cNvPr id="4" name="Picture 3" descr="fig_3_2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4754880"/>
          </a:xfrm>
          <a:prstGeom prst="rect">
            <a:avLst/>
          </a:prstGeom>
        </p:spPr>
      </p:pic>
      <p:pic>
        <p:nvPicPr>
          <p:cNvPr id="5" name="Picture 4" descr="fig_3_4_data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Financial Command Center (Dashboard)</a:t>
            </a:r>
          </a:p>
        </p:txBody>
      </p:sp>
      <p:pic>
        <p:nvPicPr>
          <p:cNvPr id="4" name="Picture 3" descr="fig_4_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AI Behavior Suite &amp; Decision Tools</a:t>
            </a:r>
          </a:p>
        </p:txBody>
      </p:sp>
      <p:pic>
        <p:nvPicPr>
          <p:cNvPr id="4" name="Picture 3" descr="fig_4_5_ai_su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3-Panel Regret Predictor Engine</a:t>
            </a:r>
          </a:p>
        </p:txBody>
      </p:sp>
      <p:pic>
        <p:nvPicPr>
          <p:cNvPr id="4" name="Picture 3" descr="fig_4_7_regret_predi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Dream Savings Goals &amp; Progression</a:t>
            </a:r>
          </a:p>
        </p:txBody>
      </p:sp>
      <p:pic>
        <p:nvPicPr>
          <p:cNvPr id="4" name="Picture 3" descr="fig_4_8_dream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Subscription Killer &amp; Usage Analytics</a:t>
            </a:r>
          </a:p>
        </p:txBody>
      </p:sp>
      <p:pic>
        <p:nvPicPr>
          <p:cNvPr id="4" name="Picture 3" descr="fig_4_9_subscri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Gamification, XP &amp; No-Spend Calendar</a:t>
            </a:r>
          </a:p>
        </p:txBody>
      </p:sp>
      <p:pic>
        <p:nvPicPr>
          <p:cNvPr id="4" name="Picture 3" descr="fig_4_10_gam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4754880"/>
          </a:xfrm>
          <a:prstGeom prst="rect">
            <a:avLst/>
          </a:prstGeom>
        </p:spPr>
      </p:pic>
      <p:pic>
        <p:nvPicPr>
          <p:cNvPr id="5" name="Picture 4" descr="fig_4_11_nospend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1206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PENNYWISE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Testing &amp; Quality Assurance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27 / 27 Automated Tests Passed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Authentication Tests (8/8 Passed) — bcrypt hashing, JWT validation, token isolation.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Expenses CRUD Tests (5/5 Passed) — user-scoped expense operations &amp; satisfaction rating.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Budgeting &amp; Reports Tests (5/5 Passed) — category budget thresholds &amp; PDF output.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AI Behavior Suite Tests (6/6 Passed) — Regret Predictor score calculations.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System E2E Workflows (3/3 Passed) — full user lifecycle and account cleanup.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</a:defRPr>
            </a:pPr>
            <a:r>
              <a:t>Security &amp; Quality Standards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JWT Authentication Guarding all REST API routes.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Bcrypt Password Hashing with multi-round salt.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Strict User Isolation via parameterized SQL query filters.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Cascading Foreign Key Deletion to prevent orphaned data.</a:t>
            </a:r>
          </a:p>
          <a:p>
            <a:pPr>
              <a:spcBef>
                <a:spcPts val="1400"/>
              </a:spcBef>
              <a:defRPr sz="1400">
                <a:solidFill>
                  <a:srgbClr val="F8FAFC"/>
                </a:solidFill>
              </a:defRPr>
            </a:pPr>
            <a:r>
              <a:t>• Environment Secret Isolation (.env configuration).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</a:defRPr>
            </a:pPr>
            <a:r>
              <a:t>Thank You!</a:t>
            </a:r>
          </a:p>
          <a:p>
            <a:pPr algn="ctr">
              <a:spcBef>
                <a:spcPts val="1600"/>
              </a:spcBef>
              <a:defRPr sz="2000" b="1">
                <a:solidFill>
                  <a:srgbClr val="F8FAFC"/>
                </a:solidFill>
              </a:defRPr>
            </a:pPr>
            <a:r>
              <a:t>PennyWise: AI-Powered Personal Finance Platform</a:t>
            </a:r>
          </a:p>
          <a:p>
            <a:pPr algn="ctr">
              <a:spcBef>
                <a:spcPts val="3000"/>
              </a:spcBef>
              <a:defRPr sz="2600" b="1">
                <a:solidFill>
                  <a:srgbClr val="6366F1"/>
                </a:solidFill>
              </a:defRPr>
            </a:pPr>
            <a:r>
              <a:t>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