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8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4600" b="1">
                <a:solidFill>
                  <a:srgbClr val="818CF8"/>
                </a:solidFill>
              </a:defRPr>
            </a:pPr>
            <a:r>
              <a:t>PennyWise</a:t>
            </a:r>
          </a:p>
          <a:p>
            <a:pPr>
              <a:spcAft>
                <a:spcPts val="1400"/>
              </a:spcAft>
              <a:defRPr sz="1800" b="1">
                <a:solidFill>
                  <a:srgbClr val="34D399"/>
                </a:solidFill>
              </a:defRPr>
            </a:pPr>
            <a:r>
              <a:t>Spend smarter. Think better. Save more.</a:t>
            </a:r>
          </a:p>
          <a:p>
            <a:pPr>
              <a:spcAft>
                <a:spcPts val="3600"/>
              </a:spcAft>
              <a:defRPr sz="2200" b="1">
                <a:solidFill>
                  <a:srgbClr val="F8FAFC"/>
                </a:solidFill>
              </a:defRPr>
            </a:pPr>
            <a:r>
              <a:t>AI-Powered Personal Finance &amp;</a:t>
            </a:r>
            <a:br/>
            <a:r>
              <a:t>Behavioral Economics Platform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4206240"/>
            <a:ext cx="4937760" cy="192024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43400"/>
            <a:ext cx="4572000" cy="149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rPr sz="1400"/>
              <a:t>Presented by:</a:t>
            </a:r>
            <a:endParaRPr sz="1400"/>
          </a:p>
          <a:p>
            <a:pPr>
              <a:spcAft>
                <a:spcPts val="600"/>
              </a:spcAft>
              <a:defRPr sz="1800" b="1">
                <a:solidFill>
                  <a:srgbClr val="34D399"/>
                </a:solidFill>
              </a:defRPr>
            </a:pPr>
            <a:r>
              <a:rPr sz="2400"/>
              <a:t>Sneha </a:t>
            </a:r>
            <a:r>
              <a:rPr lang="en-US" sz="2400"/>
              <a:t>Sinha</a:t>
            </a:r>
            <a:r>
              <a:rPr sz="2400"/>
              <a:t> |  Roll No: 2305495</a:t>
            </a:r>
            <a:endParaRPr sz="2400"/>
          </a:p>
          <a:p>
            <a:pPr>
              <a:defRPr sz="1200">
                <a:solidFill>
                  <a:srgbClr val="CBD5E1"/>
                </a:solidFill>
              </a:defRPr>
            </a:pPr>
            <a:r>
              <a:rPr sz="1600"/>
              <a:t>B.Tech Computer Science &amp; Engineering</a:t>
            </a:r>
            <a:br>
              <a:rPr sz="1600"/>
            </a:br>
            <a:r>
              <a:rPr sz="1600"/>
              <a:t>School of Computer Engineering</a:t>
            </a:r>
            <a:br>
              <a:rPr sz="1600"/>
            </a:br>
            <a:r>
              <a:rPr sz="1600"/>
              <a:t>KIIT Deemed to be University</a:t>
            </a:r>
            <a:endParaRPr sz="1600"/>
          </a:p>
        </p:txBody>
      </p:sp>
      <p:sp>
        <p:nvSpPr>
          <p:cNvPr id="5" name="Rounded Rectangle 4"/>
          <p:cNvSpPr/>
          <p:nvPr/>
        </p:nvSpPr>
        <p:spPr>
          <a:xfrm>
            <a:off x="5943600" y="822960"/>
            <a:ext cx="5669280" cy="530352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4_1_dashboar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914400"/>
            <a:ext cx="548640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818CF8"/>
                </a:solidFill>
              </a:defRPr>
            </a:pPr>
            <a:r>
              <a:t>PENNYWISE  •  AI-POWERED PERSONAL FINANCE &amp; BEHAVIORAL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The Problem vs. PennyWise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2004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02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754880" cy="484632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389120" cy="4112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7171"/>
                </a:solidFill>
              </a:defRPr>
            </a:pPr>
            <a:r>
              <a:rPr sz="2800"/>
              <a:t>THE PROBLEM</a:t>
            </a:r>
            <a:endParaRPr sz="2800"/>
          </a:p>
          <a:p>
            <a:pPr>
              <a:spcBef>
                <a:spcPts val="1000"/>
              </a:spcBef>
              <a:defRPr sz="1300" b="1">
                <a:solidFill>
                  <a:srgbClr val="F8FAFC"/>
                </a:solidFill>
              </a:defRPr>
            </a:pPr>
            <a:r>
              <a:rPr sz="1800"/>
              <a:t>• Static Numbers Only</a:t>
            </a:r>
            <a:endParaRPr sz="1800"/>
          </a:p>
          <a:p>
            <a:pPr>
              <a:defRPr sz="1100">
                <a:solidFill>
                  <a:srgbClr val="94A3B8"/>
                </a:solidFill>
              </a:defRPr>
            </a:pPr>
            <a:r>
              <a:rPr sz="1600"/>
              <a:t>Traditional finance apps record transactions without explaining underlying behavioral causes.</a:t>
            </a:r>
            <a:endParaRPr sz="1600"/>
          </a:p>
          <a:p>
            <a:pPr>
              <a:spcBef>
                <a:spcPts val="1000"/>
              </a:spcBef>
              <a:defRPr sz="1300" b="1">
                <a:solidFill>
                  <a:srgbClr val="F8FAFC"/>
                </a:solidFill>
              </a:defRPr>
            </a:pPr>
            <a:r>
              <a:rPr sz="1800"/>
              <a:t>• Ignored Emotional Triggers</a:t>
            </a:r>
            <a:endParaRPr sz="1800"/>
          </a:p>
          <a:p>
            <a:pPr>
              <a:defRPr sz="1100">
                <a:solidFill>
                  <a:srgbClr val="94A3B8"/>
                </a:solidFill>
              </a:defRPr>
            </a:pPr>
            <a:r>
              <a:rPr sz="1600"/>
              <a:t>Impulse purchases driven by stress, boredom, or peer pressure are completely overlooked.</a:t>
            </a:r>
            <a:endParaRPr sz="1600"/>
          </a:p>
          <a:p>
            <a:pPr>
              <a:spcBef>
                <a:spcPts val="1000"/>
              </a:spcBef>
              <a:defRPr sz="1300" b="1">
                <a:solidFill>
                  <a:srgbClr val="F8FAFC"/>
                </a:solidFill>
              </a:defRPr>
            </a:pPr>
            <a:r>
              <a:rPr sz="1800"/>
              <a:t>• Hidden Goal Impact</a:t>
            </a:r>
            <a:endParaRPr sz="1800"/>
          </a:p>
          <a:p>
            <a:pPr>
              <a:defRPr sz="1100">
                <a:solidFill>
                  <a:srgbClr val="94A3B8"/>
                </a:solidFill>
              </a:defRPr>
            </a:pPr>
            <a:r>
              <a:rPr sz="1600"/>
              <a:t>Users cannot visualize how small daily expenses delay long-term savings goals.</a:t>
            </a:r>
            <a:endParaRPr sz="1600"/>
          </a:p>
          <a:p>
            <a:pPr>
              <a:spcBef>
                <a:spcPts val="1000"/>
              </a:spcBef>
              <a:defRPr sz="1300" b="1">
                <a:solidFill>
                  <a:srgbClr val="F8FAFC"/>
                </a:solidFill>
              </a:defRPr>
            </a:pPr>
            <a:r>
              <a:rPr sz="1800"/>
              <a:t>• No Active Intervention</a:t>
            </a:r>
            <a:endParaRPr sz="1800"/>
          </a:p>
          <a:p>
            <a:pPr>
              <a:defRPr sz="1100">
                <a:solidFill>
                  <a:srgbClr val="94A3B8"/>
                </a:solidFill>
              </a:defRPr>
            </a:pPr>
            <a:r>
              <a:rPr sz="1600"/>
              <a:t>No real-time cooling off or decision support before an impulse transaction occurs.</a:t>
            </a:r>
            <a:endParaRPr sz="1600"/>
          </a:p>
        </p:txBody>
      </p:sp>
      <p:sp>
        <p:nvSpPr>
          <p:cNvPr id="7" name="TextBox 6"/>
          <p:cNvSpPr txBox="1"/>
          <p:nvPr/>
        </p:nvSpPr>
        <p:spPr>
          <a:xfrm>
            <a:off x="5532120" y="3291840"/>
            <a:ext cx="1097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818CF8"/>
                </a:solidFill>
              </a:defRPr>
            </a:pPr>
            <a:r>
              <a:t>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371600"/>
            <a:ext cx="4754880" cy="484632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1554480"/>
            <a:ext cx="4389120" cy="4112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4D399"/>
                </a:solidFill>
              </a:defRPr>
            </a:pPr>
            <a:r>
              <a:rPr sz="2800"/>
              <a:t>PENNYWISE SOLUTION</a:t>
            </a:r>
            <a:endParaRPr sz="2800"/>
          </a:p>
          <a:p>
            <a:pPr>
              <a:spcBef>
                <a:spcPts val="1000"/>
              </a:spcBef>
              <a:defRPr sz="1300" b="1">
                <a:solidFill>
                  <a:srgbClr val="34D399"/>
                </a:solidFill>
              </a:defRPr>
            </a:pPr>
            <a:r>
              <a:rPr sz="1800"/>
              <a:t>✓ Behavioral Finance + AI</a:t>
            </a:r>
            <a:endParaRPr sz="1800"/>
          </a:p>
          <a:p>
            <a:pPr>
              <a:defRPr sz="1100">
                <a:solidFill>
                  <a:srgbClr val="CBD5E1"/>
                </a:solidFill>
              </a:defRPr>
            </a:pPr>
            <a:r>
              <a:rPr sz="1600"/>
              <a:t>Combines transaction records with psychological mood tracking &amp; financial health scoring.</a:t>
            </a:r>
            <a:endParaRPr sz="1600"/>
          </a:p>
          <a:p>
            <a:pPr>
              <a:spcBef>
                <a:spcPts val="1000"/>
              </a:spcBef>
              <a:defRPr sz="1300" b="1">
                <a:solidFill>
                  <a:srgbClr val="34D399"/>
                </a:solidFill>
              </a:defRPr>
            </a:pPr>
            <a:r>
              <a:rPr sz="1800"/>
              <a:t>✓ Transparent Regret Predictor</a:t>
            </a:r>
            <a:endParaRPr sz="1800"/>
          </a:p>
          <a:p>
            <a:pPr>
              <a:defRPr sz="1100">
                <a:solidFill>
                  <a:srgbClr val="CBD5E1"/>
                </a:solidFill>
              </a:defRPr>
            </a:pPr>
            <a:r>
              <a:rPr sz="1600"/>
              <a:t>Computes a 0–100 risk score based on 6 weighted financial &amp; behavioral components.</a:t>
            </a:r>
            <a:endParaRPr sz="1600"/>
          </a:p>
          <a:p>
            <a:pPr>
              <a:spcBef>
                <a:spcPts val="1000"/>
              </a:spcBef>
              <a:defRPr sz="1300" b="1">
                <a:solidFill>
                  <a:srgbClr val="34D399"/>
                </a:solidFill>
              </a:defRPr>
            </a:pPr>
            <a:r>
              <a:rPr sz="1800"/>
              <a:t>✓ Impulse Lock &amp; AI Advisor</a:t>
            </a:r>
            <a:endParaRPr sz="1800"/>
          </a:p>
          <a:p>
            <a:pPr>
              <a:defRPr sz="1100">
                <a:solidFill>
                  <a:srgbClr val="CBD5E1"/>
                </a:solidFill>
              </a:defRPr>
            </a:pPr>
            <a:r>
              <a:rPr sz="1600"/>
              <a:t>Enforces a 30-second cooling-off timer with real-time affordability analysis.</a:t>
            </a:r>
            <a:endParaRPr sz="1600"/>
          </a:p>
          <a:p>
            <a:pPr>
              <a:spcBef>
                <a:spcPts val="1000"/>
              </a:spcBef>
              <a:defRPr sz="1300" b="1">
                <a:solidFill>
                  <a:srgbClr val="34D399"/>
                </a:solidFill>
              </a:defRPr>
            </a:pPr>
            <a:r>
              <a:rPr sz="1800"/>
              <a:t>✓ Gamified Progression</a:t>
            </a:r>
            <a:endParaRPr sz="1800"/>
          </a:p>
          <a:p>
            <a:pPr>
              <a:defRPr sz="1100">
                <a:solidFill>
                  <a:srgbClr val="CBD5E1"/>
                </a:solidFill>
              </a:defRPr>
            </a:pPr>
            <a:r>
              <a:rPr sz="1600"/>
              <a:t>Drives savings discipline through XP, levels, badges, and daily savings missions.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818CF8"/>
                </a:solidFill>
              </a:defRPr>
            </a:pPr>
            <a:r>
              <a:t>PENNYWISE  •  AI-POWERED PERSONAL FINANCE &amp; BEHAVIORAL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System Architecture &amp; Engineering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2004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03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7132320" cy="502920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3_1_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6949440" cy="4846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863840" y="1280160"/>
            <a:ext cx="3749039" cy="502920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1463040"/>
            <a:ext cx="3383280" cy="4789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rPr sz="2400"/>
              <a:t>Tech Stack Summary</a:t>
            </a:r>
            <a:endParaRPr sz="2400"/>
          </a:p>
          <a:p>
            <a:pPr>
              <a:spcBef>
                <a:spcPts val="1000"/>
              </a:spcBef>
              <a:defRPr sz="1300" b="1">
                <a:solidFill>
                  <a:srgbClr val="F8FAFC"/>
                </a:solidFill>
              </a:defRPr>
            </a:pPr>
            <a:r>
              <a:rPr sz="1800"/>
              <a:t>• Presentation Layer</a:t>
            </a:r>
            <a:endParaRPr sz="1800"/>
          </a:p>
          <a:p>
            <a:pPr>
              <a:defRPr sz="1100">
                <a:solidFill>
                  <a:srgbClr val="94A3B8"/>
                </a:solidFill>
              </a:defRPr>
            </a:pPr>
            <a:r>
              <a:rPr sz="1600"/>
              <a:t>HTML5, CSS3 Glassmorphic UI, Vanilla JavaScript SPA Controller, Chart.js Visualizations.</a:t>
            </a:r>
            <a:endParaRPr sz="1600"/>
          </a:p>
          <a:p>
            <a:pPr>
              <a:spcBef>
                <a:spcPts val="1000"/>
              </a:spcBef>
              <a:defRPr sz="1300" b="1">
                <a:solidFill>
                  <a:srgbClr val="F8FAFC"/>
                </a:solidFill>
              </a:defRPr>
            </a:pPr>
            <a:r>
              <a:rPr sz="1800"/>
              <a:t>• Application Backend</a:t>
            </a:r>
            <a:endParaRPr sz="1800"/>
          </a:p>
          <a:p>
            <a:pPr>
              <a:defRPr sz="1100">
                <a:solidFill>
                  <a:srgbClr val="94A3B8"/>
                </a:solidFill>
              </a:defRPr>
            </a:pPr>
            <a:r>
              <a:rPr sz="1600"/>
              <a:t>Node.js REST API, Express.js Middleware Stack, JWT Auth Guard, bcrypt Hashing.</a:t>
            </a:r>
            <a:endParaRPr sz="1600"/>
          </a:p>
          <a:p>
            <a:pPr>
              <a:spcBef>
                <a:spcPts val="1000"/>
              </a:spcBef>
              <a:defRPr sz="1300" b="1">
                <a:solidFill>
                  <a:srgbClr val="F8FAFC"/>
                </a:solidFill>
              </a:defRPr>
            </a:pPr>
            <a:r>
              <a:rPr sz="1800"/>
              <a:t>• Behavioral AI Engine</a:t>
            </a:r>
            <a:endParaRPr sz="1800"/>
          </a:p>
          <a:p>
            <a:pPr>
              <a:defRPr sz="1100">
                <a:solidFill>
                  <a:srgbClr val="94A3B8"/>
                </a:solidFill>
              </a:defRPr>
            </a:pPr>
            <a:r>
              <a:rPr sz="1600"/>
              <a:t>6-Weight Regret Risk Engine, Should I Buy It Advisor, Opportunity Cost Simulator.</a:t>
            </a:r>
            <a:endParaRPr sz="1600"/>
          </a:p>
          <a:p>
            <a:pPr>
              <a:spcBef>
                <a:spcPts val="1000"/>
              </a:spcBef>
              <a:defRPr sz="1300" b="1">
                <a:solidFill>
                  <a:srgbClr val="F8FAFC"/>
                </a:solidFill>
              </a:defRPr>
            </a:pPr>
            <a:r>
              <a:rPr sz="1800"/>
              <a:t>• Persistence &amp; Reports</a:t>
            </a:r>
            <a:endParaRPr sz="1800"/>
          </a:p>
          <a:p>
            <a:pPr>
              <a:defRPr sz="1100">
                <a:solidFill>
                  <a:srgbClr val="94A3B8"/>
                </a:solidFill>
              </a:defRPr>
            </a:pPr>
            <a:r>
              <a:rPr sz="1600"/>
              <a:t>SQLite Relational Database (finpilot.db, 21 Tables), PDFKit Report Generator.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818CF8"/>
                </a:solidFill>
              </a:defRPr>
            </a:pPr>
            <a:r>
              <a:t>PENNYWISE  •  AI-POWERED PERSONAL FINANCE &amp; BEHAVIORAL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Use Case Model &amp; Data-Flow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2004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04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5303520" cy="502920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3_2_useca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5120640" cy="4846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126480" y="1280160"/>
            <a:ext cx="5486400" cy="502920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_3_4_data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30352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818CF8"/>
                </a:solidFill>
              </a:defRPr>
            </a:pPr>
            <a:r>
              <a:t>PENNYWISE  •  AI-POWERED PERSONAL FINANCE &amp; BEHAVIORAL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Financial Command Center &amp;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2004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05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7498079" cy="502920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4_1_dashboar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7315200" cy="4846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0" y="1280160"/>
            <a:ext cx="3383280" cy="502920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146304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18CF8"/>
                </a:solidFill>
              </a:defRPr>
            </a:pPr>
            <a:r>
              <a:rPr sz="2400"/>
              <a:t>Key Indicators</a:t>
            </a:r>
            <a:endParaRPr sz="2400"/>
          </a:p>
          <a:p>
            <a:pPr>
              <a:spcBef>
                <a:spcPts val="1000"/>
              </a:spcBef>
              <a:defRPr sz="1300" b="1">
                <a:solidFill>
                  <a:srgbClr val="34D399"/>
                </a:solidFill>
              </a:defRPr>
            </a:pPr>
            <a:r>
              <a:rPr sz="1800"/>
              <a:t>• Financial Health Score</a:t>
            </a:r>
            <a:endParaRPr sz="1800"/>
          </a:p>
          <a:p>
            <a:pPr>
              <a:defRPr sz="1100">
                <a:solidFill>
                  <a:srgbClr val="94A3B8"/>
                </a:solidFill>
              </a:defRPr>
            </a:pPr>
            <a:r>
              <a:rPr sz="1600"/>
              <a:t>Calculated 0-100 score from savings rate, impulse frequency &amp; mood stability.</a:t>
            </a:r>
            <a:endParaRPr sz="1600"/>
          </a:p>
          <a:p>
            <a:pPr>
              <a:spcBef>
                <a:spcPts val="1000"/>
              </a:spcBef>
              <a:defRPr sz="1300" b="1">
                <a:solidFill>
                  <a:srgbClr val="34D399"/>
                </a:solidFill>
              </a:defRPr>
            </a:pPr>
            <a:r>
              <a:rPr sz="1800"/>
              <a:t>• Take-Home Income</a:t>
            </a:r>
            <a:endParaRPr sz="1800"/>
          </a:p>
          <a:p>
            <a:pPr>
              <a:defRPr sz="1100">
                <a:solidFill>
                  <a:srgbClr val="94A3B8"/>
                </a:solidFill>
              </a:defRPr>
            </a:pPr>
            <a:r>
              <a:rPr sz="1600"/>
              <a:t>Calculates net balance after fixed payroll &amp; tax deductions.</a:t>
            </a:r>
            <a:endParaRPr sz="1600"/>
          </a:p>
          <a:p>
            <a:pPr>
              <a:spcBef>
                <a:spcPts val="1000"/>
              </a:spcBef>
              <a:defRPr sz="1300" b="1">
                <a:solidFill>
                  <a:srgbClr val="34D399"/>
                </a:solidFill>
              </a:defRPr>
            </a:pPr>
            <a:r>
              <a:rPr sz="1800"/>
              <a:t>• Monthly Spending Trend</a:t>
            </a:r>
            <a:endParaRPr sz="1800"/>
          </a:p>
          <a:p>
            <a:pPr>
              <a:defRPr sz="1100">
                <a:solidFill>
                  <a:srgbClr val="94A3B8"/>
                </a:solidFill>
              </a:defRPr>
            </a:pPr>
            <a:r>
              <a:rPr sz="1600"/>
              <a:t>Compares current vs. previous month expenses by category.</a:t>
            </a:r>
            <a:endParaRPr sz="1600"/>
          </a:p>
          <a:p>
            <a:pPr>
              <a:spcBef>
                <a:spcPts val="1000"/>
              </a:spcBef>
              <a:defRPr sz="1300" b="1">
                <a:solidFill>
                  <a:srgbClr val="34D399"/>
                </a:solidFill>
              </a:defRPr>
            </a:pPr>
            <a:r>
              <a:rPr sz="1800"/>
              <a:t>• Impulse &amp; Mood Tracker</a:t>
            </a:r>
            <a:endParaRPr sz="1800"/>
          </a:p>
          <a:p>
            <a:pPr>
              <a:defRPr sz="1100">
                <a:solidFill>
                  <a:srgbClr val="94A3B8"/>
                </a:solidFill>
              </a:defRPr>
            </a:pPr>
            <a:r>
              <a:rPr sz="1600"/>
              <a:t>Maps spending to emotional states (Happy, Stressed, Bored).</a:t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818CF8"/>
                </a:solidFill>
              </a:defRPr>
            </a:pPr>
            <a:r>
              <a:t>PENNYWISE  •  AI-POWERED PERSONAL FINANCE &amp; BEHAVIORAL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AI Behavior Suite &amp; Decision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2004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06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7498079" cy="502920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4_5_ai_su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7315200" cy="4846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0" y="1280160"/>
            <a:ext cx="3383280" cy="502920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8" name="TextBox 7"/>
          <p:cNvSpPr txBox="1"/>
          <p:nvPr/>
        </p:nvSpPr>
        <p:spPr>
          <a:xfrm>
            <a:off x="8366760" y="1463040"/>
            <a:ext cx="3108960" cy="47078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rPr sz="2000"/>
              <a:t>AI Decision Tools</a:t>
            </a:r>
            <a:endParaRPr sz="2000"/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rPr sz="1600"/>
              <a:t>• Should I Buy It? Advisor</a:t>
            </a:r>
            <a:endParaRPr sz="1600"/>
          </a:p>
          <a:p>
            <a:pPr>
              <a:defRPr sz="1000">
                <a:solidFill>
                  <a:srgbClr val="94A3B8"/>
                </a:solidFill>
              </a:defRPr>
            </a:pPr>
            <a:r>
              <a:rPr sz="1400"/>
              <a:t>Evaluates affordability against active savings goals.</a:t>
            </a:r>
            <a:endParaRPr sz="1400"/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rPr sz="1600"/>
              <a:t>• Regret Predictor Engine</a:t>
            </a:r>
            <a:endParaRPr sz="1600"/>
          </a:p>
          <a:p>
            <a:pPr>
              <a:defRPr sz="1000">
                <a:solidFill>
                  <a:srgbClr val="94A3B8"/>
                </a:solidFill>
              </a:defRPr>
            </a:pPr>
            <a:r>
              <a:rPr sz="1400"/>
              <a:t>6-weighted risk score with goal delay estimates.</a:t>
            </a:r>
            <a:endParaRPr sz="1400"/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rPr sz="1600"/>
              <a:t>• Opportunity Cost Tools</a:t>
            </a:r>
            <a:endParaRPr sz="1600"/>
          </a:p>
          <a:p>
            <a:pPr>
              <a:defRPr sz="1000">
                <a:solidFill>
                  <a:srgbClr val="94A3B8"/>
                </a:solidFill>
              </a:defRPr>
            </a:pPr>
            <a:r>
              <a:rPr sz="1400"/>
              <a:t>Translates price into daily coffee/meal equivalents.</a:t>
            </a:r>
            <a:endParaRPr sz="1400"/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rPr sz="1600"/>
              <a:t>• Future Savings Simulator</a:t>
            </a:r>
            <a:endParaRPr sz="1600"/>
          </a:p>
          <a:p>
            <a:pPr>
              <a:defRPr sz="1000">
                <a:solidFill>
                  <a:srgbClr val="94A3B8"/>
                </a:solidFill>
              </a:defRPr>
            </a:pPr>
            <a:r>
              <a:rPr sz="1400"/>
              <a:t>Models 1 &amp; 5-year savings from category cutbacks.</a:t>
            </a:r>
            <a:endParaRPr sz="1400"/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rPr sz="1600"/>
              <a:t>• Hidden Expense Detector</a:t>
            </a:r>
            <a:endParaRPr sz="1600"/>
          </a:p>
          <a:p>
            <a:pPr>
              <a:defRPr sz="1000">
                <a:solidFill>
                  <a:srgbClr val="94A3B8"/>
                </a:solidFill>
              </a:defRPr>
            </a:pPr>
            <a:r>
              <a:rPr sz="1400"/>
              <a:t>Identifies micro-spending accumulation.</a:t>
            </a:r>
            <a:endParaRPr sz="1400"/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rPr sz="1600"/>
              <a:t>• Weekly Spending Roast</a:t>
            </a:r>
            <a:endParaRPr sz="1600"/>
          </a:p>
          <a:p>
            <a:pPr>
              <a:defRPr sz="1000">
                <a:solidFill>
                  <a:srgbClr val="94A3B8"/>
                </a:solidFill>
              </a:defRPr>
            </a:pPr>
            <a:r>
              <a:rPr sz="1400"/>
              <a:t>Generates humorous behavioral observations.</a:t>
            </a:r>
            <a:endParaRPr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818CF8"/>
                </a:solidFill>
              </a:defRPr>
            </a:pPr>
            <a:r>
              <a:t>PENNYWISE  •  AI-POWERED PERSONAL FINANCE &amp; BEHAVIORAL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Regret Predictor Engine — 6 Weighted Component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2004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07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7498079" cy="502920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4_7_regret_predicto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7315200" cy="4846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0" y="1280160"/>
            <a:ext cx="3383280" cy="502920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1463040"/>
            <a:ext cx="3108960" cy="406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7171"/>
                </a:solidFill>
              </a:defRPr>
            </a:pPr>
            <a:r>
              <a:rPr sz="2400"/>
              <a:t>Weighted Risk Model</a:t>
            </a:r>
            <a:endParaRPr sz="2400"/>
          </a:p>
          <a:p>
            <a:pPr>
              <a:spcBef>
                <a:spcPts val="600"/>
              </a:spcBef>
              <a:defRPr sz="1200" b="1">
                <a:solidFill>
                  <a:srgbClr val="FBBF24"/>
                </a:solidFill>
              </a:defRPr>
            </a:pPr>
            <a:r>
              <a:rPr sz="1800"/>
              <a:t>• Income Risk (25%)</a:t>
            </a:r>
            <a:endParaRPr sz="1800"/>
          </a:p>
          <a:p>
            <a:pPr>
              <a:defRPr sz="1000">
                <a:solidFill>
                  <a:srgbClr val="94A3B8"/>
                </a:solidFill>
              </a:defRPr>
            </a:pPr>
            <a:r>
              <a:rPr sz="1600"/>
              <a:t>Price vs. monthly take-home pay.</a:t>
            </a:r>
            <a:endParaRPr sz="1600"/>
          </a:p>
          <a:p>
            <a:pPr>
              <a:spcBef>
                <a:spcPts val="600"/>
              </a:spcBef>
              <a:defRPr sz="1200" b="1">
                <a:solidFill>
                  <a:srgbClr val="FBBF24"/>
                </a:solidFill>
              </a:defRPr>
            </a:pPr>
            <a:r>
              <a:rPr sz="1800"/>
              <a:t>• Category Risk (20%)</a:t>
            </a:r>
            <a:endParaRPr sz="1800"/>
          </a:p>
          <a:p>
            <a:pPr>
              <a:defRPr sz="1000">
                <a:solidFill>
                  <a:srgbClr val="94A3B8"/>
                </a:solidFill>
              </a:defRPr>
            </a:pPr>
            <a:r>
              <a:rPr sz="1600"/>
              <a:t>Historical category regret rates.</a:t>
            </a:r>
            <a:endParaRPr sz="1600"/>
          </a:p>
          <a:p>
            <a:pPr>
              <a:spcBef>
                <a:spcPts val="600"/>
              </a:spcBef>
              <a:defRPr sz="1200" b="1">
                <a:solidFill>
                  <a:srgbClr val="FBBF24"/>
                </a:solidFill>
              </a:defRPr>
            </a:pPr>
            <a:r>
              <a:rPr sz="1800"/>
              <a:t>• Mood Risk (15%)</a:t>
            </a:r>
            <a:endParaRPr sz="1800"/>
          </a:p>
          <a:p>
            <a:pPr>
              <a:defRPr sz="1000">
                <a:solidFill>
                  <a:srgbClr val="94A3B8"/>
                </a:solidFill>
              </a:defRPr>
            </a:pPr>
            <a:r>
              <a:rPr sz="1600"/>
              <a:t>Emotional state (Stressed/Bored).</a:t>
            </a:r>
            <a:endParaRPr sz="1600"/>
          </a:p>
          <a:p>
            <a:pPr>
              <a:spcBef>
                <a:spcPts val="600"/>
              </a:spcBef>
              <a:defRPr sz="1200" b="1">
                <a:solidFill>
                  <a:srgbClr val="FBBF24"/>
                </a:solidFill>
              </a:defRPr>
            </a:pPr>
            <a:r>
              <a:rPr sz="1800"/>
              <a:t>• Impulse Risk (15%)</a:t>
            </a:r>
            <a:endParaRPr sz="1800"/>
          </a:p>
          <a:p>
            <a:pPr>
              <a:defRPr sz="1000">
                <a:solidFill>
                  <a:srgbClr val="94A3B8"/>
                </a:solidFill>
              </a:defRPr>
            </a:pPr>
            <a:r>
              <a:rPr sz="1600"/>
              <a:t>Unplanned purchase flag.</a:t>
            </a:r>
            <a:endParaRPr sz="1600"/>
          </a:p>
          <a:p>
            <a:pPr>
              <a:spcBef>
                <a:spcPts val="600"/>
              </a:spcBef>
              <a:defRPr sz="1200" b="1">
                <a:solidFill>
                  <a:srgbClr val="FBBF24"/>
                </a:solidFill>
              </a:defRPr>
            </a:pPr>
            <a:r>
              <a:rPr sz="1800"/>
              <a:t>• Goal Delay Risk (15%)</a:t>
            </a:r>
            <a:endParaRPr sz="1800"/>
          </a:p>
          <a:p>
            <a:pPr>
              <a:defRPr sz="1000">
                <a:solidFill>
                  <a:srgbClr val="94A3B8"/>
                </a:solidFill>
              </a:defRPr>
            </a:pPr>
            <a:r>
              <a:rPr sz="1600"/>
              <a:t>Impact on active Dream Goals.</a:t>
            </a:r>
            <a:endParaRPr sz="1600"/>
          </a:p>
          <a:p>
            <a:pPr>
              <a:spcBef>
                <a:spcPts val="600"/>
              </a:spcBef>
              <a:defRPr sz="1200" b="1">
                <a:solidFill>
                  <a:srgbClr val="FBBF24"/>
                </a:solidFill>
              </a:defRPr>
            </a:pPr>
            <a:r>
              <a:rPr sz="1800"/>
              <a:t>• Purchase History (10%)</a:t>
            </a:r>
            <a:endParaRPr sz="1800"/>
          </a:p>
          <a:p>
            <a:pPr>
              <a:defRPr sz="1000">
                <a:solidFill>
                  <a:srgbClr val="94A3B8"/>
                </a:solidFill>
              </a:defRPr>
            </a:pPr>
            <a:r>
              <a:rPr sz="1600"/>
              <a:t>Prior satisfaction feedback score.</a:t>
            </a:r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818CF8"/>
                </a:solidFill>
              </a:defRPr>
            </a:pPr>
            <a:r>
              <a:t>PENNYWISE  •  AI-POWERED PERSONAL FINANCE &amp; BEHAVIORAL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Dream Savings Goals &amp; Level Progression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2004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08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7498079" cy="502920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4_8_dream_goal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7315200" cy="4846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0" y="1280160"/>
            <a:ext cx="3383280" cy="502920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1463040"/>
            <a:ext cx="3108960" cy="443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rPr sz="2400"/>
              <a:t>Goal Progression Levels</a:t>
            </a:r>
            <a:endParaRPr sz="2400"/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rPr sz="1800"/>
              <a:t>• Penny Beginner</a:t>
            </a:r>
            <a:endParaRPr sz="1800"/>
          </a:p>
          <a:p>
            <a:pPr>
              <a:defRPr sz="1000">
                <a:solidFill>
                  <a:srgbClr val="94A3B8"/>
                </a:solidFill>
              </a:defRPr>
            </a:pPr>
            <a:r>
              <a:rPr sz="1600"/>
              <a:t>0% - 19% saved toward target.</a:t>
            </a:r>
            <a:endParaRPr sz="1600"/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rPr sz="1800"/>
              <a:t>• Budget Explorer</a:t>
            </a:r>
            <a:endParaRPr sz="1800"/>
          </a:p>
          <a:p>
            <a:pPr>
              <a:defRPr sz="1000">
                <a:solidFill>
                  <a:srgbClr val="94A3B8"/>
                </a:solidFill>
              </a:defRPr>
            </a:pPr>
            <a:r>
              <a:rPr sz="1600"/>
              <a:t>20% - 39% saved toward target.</a:t>
            </a:r>
            <a:endParaRPr sz="1600"/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rPr sz="1800"/>
              <a:t>• Treasure Hunter</a:t>
            </a:r>
            <a:endParaRPr sz="1800"/>
          </a:p>
          <a:p>
            <a:pPr>
              <a:defRPr sz="1000">
                <a:solidFill>
                  <a:srgbClr val="94A3B8"/>
                </a:solidFill>
              </a:defRPr>
            </a:pPr>
            <a:r>
              <a:rPr sz="1600"/>
              <a:t>40% - 59% saved toward target.</a:t>
            </a:r>
            <a:endParaRPr sz="1600"/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rPr sz="1800"/>
              <a:t>• Savings Knight</a:t>
            </a:r>
            <a:endParaRPr sz="1800"/>
          </a:p>
          <a:p>
            <a:pPr>
              <a:defRPr sz="1000">
                <a:solidFill>
                  <a:srgbClr val="94A3B8"/>
                </a:solidFill>
              </a:defRPr>
            </a:pPr>
            <a:r>
              <a:rPr sz="1600"/>
              <a:t>60% - 79% saved toward target.</a:t>
            </a:r>
            <a:endParaRPr sz="1600"/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rPr sz="1800"/>
              <a:t>• Wealth Wizard</a:t>
            </a:r>
            <a:endParaRPr sz="1800"/>
          </a:p>
          <a:p>
            <a:pPr>
              <a:defRPr sz="1000">
                <a:solidFill>
                  <a:srgbClr val="94A3B8"/>
                </a:solidFill>
              </a:defRPr>
            </a:pPr>
            <a:r>
              <a:rPr sz="1600"/>
              <a:t>80% - 99% saved toward target.</a:t>
            </a:r>
            <a:endParaRPr sz="1600"/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rPr sz="1800"/>
              <a:t>• Financial Legend</a:t>
            </a:r>
            <a:endParaRPr sz="1800"/>
          </a:p>
          <a:p>
            <a:pPr>
              <a:defRPr sz="1000">
                <a:solidFill>
                  <a:srgbClr val="94A3B8"/>
                </a:solidFill>
              </a:defRPr>
            </a:pPr>
            <a:r>
              <a:rPr sz="1600"/>
              <a:t>100% Goal Reached &amp; Unlocked!</a:t>
            </a:r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818CF8"/>
                </a:solidFill>
              </a:defRPr>
            </a:pPr>
            <a:r>
              <a:t>PENNYWISE  •  AI-POWERED PERSONAL FINANCE &amp; BEHAVIORAL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Subscription Killer &amp; Gamification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2004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09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5303520" cy="502920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4_9_subscription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5120640" cy="4846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126480" y="1280160"/>
            <a:ext cx="5486400" cy="502920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_4_10_gam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30352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818CF8"/>
                </a:solidFill>
              </a:defRPr>
            </a:pPr>
            <a:r>
              <a:t>PENNYWISE  •  AI-POWERED PERSONAL FINANCE &amp; BEHAVIORAL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PennyWise in Action — End-to-End Decision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2004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10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2468880" cy="201168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2194560" cy="1240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18CF8"/>
                </a:solidFill>
              </a:defRPr>
            </a:pPr>
            <a:r>
              <a:rPr sz="2000"/>
              <a:t>1. User Intent</a:t>
            </a:r>
            <a:endParaRPr sz="2000"/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rPr sz="1600"/>
              <a:t>User encounters an unplanned item (e.g. $250 Sneakers).</a:t>
            </a:r>
            <a:endParaRPr sz="1600"/>
          </a:p>
        </p:txBody>
      </p:sp>
      <p:sp>
        <p:nvSpPr>
          <p:cNvPr id="7" name="Rounded Rectangle 6"/>
          <p:cNvSpPr/>
          <p:nvPr/>
        </p:nvSpPr>
        <p:spPr>
          <a:xfrm>
            <a:off x="3383280" y="1463040"/>
            <a:ext cx="2468880" cy="201168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600200"/>
            <a:ext cx="2194560" cy="1240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BBF24"/>
                </a:solidFill>
              </a:defRPr>
            </a:pPr>
            <a:r>
              <a:rPr sz="2000"/>
              <a:t>2. Cooling-Off Lock</a:t>
            </a:r>
            <a:endParaRPr sz="2000"/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rPr sz="1600"/>
              <a:t>Impulse Lock activates a 30-second cooling-off timer.</a:t>
            </a:r>
            <a:endParaRPr sz="1600"/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2468880" cy="201168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00200"/>
            <a:ext cx="2194560" cy="1240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7171"/>
                </a:solidFill>
              </a:defRPr>
            </a:pPr>
            <a:r>
              <a:rPr sz="2000"/>
              <a:t>3. AI Risk Analysis</a:t>
            </a:r>
            <a:endParaRPr sz="2000"/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rPr sz="1600"/>
              <a:t>Regret Predictor evaluates 6 risk weights &amp; affordability.</a:t>
            </a:r>
            <a:endParaRPr sz="1600"/>
          </a:p>
        </p:txBody>
      </p:sp>
      <p:sp>
        <p:nvSpPr>
          <p:cNvPr id="11" name="Rounded Rectangle 10"/>
          <p:cNvSpPr/>
          <p:nvPr/>
        </p:nvSpPr>
        <p:spPr>
          <a:xfrm>
            <a:off x="9052560" y="1463040"/>
            <a:ext cx="2468880" cy="201168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89720" y="1600200"/>
            <a:ext cx="2194560" cy="1548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rPr sz="2000"/>
              <a:t>4. Decision &amp; Savings</a:t>
            </a:r>
            <a:endParaRPr sz="2000"/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rPr sz="1600"/>
              <a:t>User reviews advice, cancels purchase, and earns XP!</a:t>
            </a:r>
            <a:endParaRPr sz="1600"/>
          </a:p>
        </p:txBody>
      </p:sp>
      <p:sp>
        <p:nvSpPr>
          <p:cNvPr id="13" name="Rounded Rectangle 12"/>
          <p:cNvSpPr/>
          <p:nvPr/>
        </p:nvSpPr>
        <p:spPr>
          <a:xfrm>
            <a:off x="548640" y="3749039"/>
            <a:ext cx="11064240" cy="256032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ig_4_6_buy_adviso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749040"/>
            <a:ext cx="10881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818CF8"/>
                </a:solidFill>
              </a:defRPr>
            </a:pPr>
            <a:r>
              <a:t>PENNYWISE  •  AI-POWERED PERSONAL FINANCE &amp; BEHAVIORAL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914400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Quality Assurance</a:t>
            </a:r>
            <a:r>
              <a:rPr lang="en-US"/>
              <a:t> and </a:t>
            </a:r>
            <a:r>
              <a:rPr lang="en-US" altLang="en-US">
                <a:sym typeface="+mn-ea"/>
              </a:rPr>
              <a:t>Conclusion</a:t>
            </a:r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0789920" y="32004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11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3390" y="1361440"/>
            <a:ext cx="5486400" cy="502920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6270" y="1740535"/>
            <a:ext cx="5120640" cy="4271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818CF8"/>
                </a:solidFill>
              </a:defRPr>
            </a:pPr>
            <a:r>
              <a:rPr sz="2400"/>
              <a:t>Security &amp; Isolation Standards</a:t>
            </a:r>
            <a:endParaRPr sz="2400"/>
          </a:p>
          <a:p>
            <a:pPr>
              <a:spcBef>
                <a:spcPts val="1000"/>
              </a:spcBef>
              <a:defRPr sz="1300" b="1">
                <a:solidFill>
                  <a:srgbClr val="F8FAFC"/>
                </a:solidFill>
              </a:defRPr>
            </a:pPr>
            <a:r>
              <a:rPr sz="1600"/>
              <a:t>• JWT Authentication Guard</a:t>
            </a:r>
            <a:endParaRPr sz="1600"/>
          </a:p>
          <a:p>
            <a:pPr>
              <a:defRPr sz="1100">
                <a:solidFill>
                  <a:srgbClr val="94A3B8"/>
                </a:solidFill>
              </a:defRPr>
            </a:pPr>
            <a:r>
              <a:rPr sz="1400"/>
              <a:t>Protects all REST API endpoints. Unauthenticated requests are rejected with 401/403.</a:t>
            </a:r>
            <a:endParaRPr sz="1400"/>
          </a:p>
          <a:p>
            <a:pPr>
              <a:spcBef>
                <a:spcPts val="1000"/>
              </a:spcBef>
              <a:defRPr sz="1300" b="1">
                <a:solidFill>
                  <a:srgbClr val="F8FAFC"/>
                </a:solidFill>
              </a:defRPr>
            </a:pPr>
            <a:r>
              <a:rPr sz="1600"/>
              <a:t>• Bcrypt Password Encryption</a:t>
            </a:r>
            <a:endParaRPr sz="1600"/>
          </a:p>
          <a:p>
            <a:pPr>
              <a:defRPr sz="1100">
                <a:solidFill>
                  <a:srgbClr val="94A3B8"/>
                </a:solidFill>
              </a:defRPr>
            </a:pPr>
            <a:r>
              <a:rPr sz="1400"/>
              <a:t>Passwords hashed with multi-round salt. Plaintext passwords never stored.</a:t>
            </a:r>
            <a:endParaRPr sz="1400"/>
          </a:p>
          <a:p>
            <a:pPr>
              <a:spcBef>
                <a:spcPts val="1000"/>
              </a:spcBef>
              <a:defRPr sz="1300" b="1">
                <a:solidFill>
                  <a:srgbClr val="F8FAFC"/>
                </a:solidFill>
              </a:defRPr>
            </a:pPr>
            <a:r>
              <a:rPr sz="1600"/>
              <a:t>• Strict User Data Isolation</a:t>
            </a:r>
            <a:endParaRPr sz="1600"/>
          </a:p>
          <a:p>
            <a:pPr>
              <a:defRPr sz="1100">
                <a:solidFill>
                  <a:srgbClr val="94A3B8"/>
                </a:solidFill>
              </a:defRPr>
            </a:pPr>
            <a:r>
              <a:rPr sz="1400"/>
              <a:t>All SQL queries parameterized with user_id to prevent multi-tenant data leaks.</a:t>
            </a:r>
            <a:endParaRPr sz="1400"/>
          </a:p>
          <a:p>
            <a:pPr>
              <a:spcBef>
                <a:spcPts val="1000"/>
              </a:spcBef>
              <a:defRPr sz="1300" b="1">
                <a:solidFill>
                  <a:srgbClr val="F8FAFC"/>
                </a:solidFill>
              </a:defRPr>
            </a:pPr>
            <a:r>
              <a:rPr sz="1600"/>
              <a:t>• Cascading Foreign Keys</a:t>
            </a:r>
            <a:endParaRPr sz="1600"/>
          </a:p>
          <a:p>
            <a:pPr>
              <a:defRPr sz="1100">
                <a:solidFill>
                  <a:srgbClr val="94A3B8"/>
                </a:solidFill>
              </a:defRPr>
            </a:pPr>
            <a:r>
              <a:rPr sz="1400"/>
              <a:t>Account deletion cascades cleanly across all 21 tables without orphaned records.</a:t>
            </a:r>
            <a:endParaRPr sz="1400"/>
          </a:p>
          <a:p>
            <a:pPr>
              <a:spcBef>
                <a:spcPts val="1000"/>
              </a:spcBef>
              <a:defRPr sz="1300" b="1">
                <a:solidFill>
                  <a:srgbClr val="F8FAFC"/>
                </a:solidFill>
              </a:defRPr>
            </a:pPr>
            <a:r>
              <a:rPr sz="1600"/>
              <a:t>• Environment Secret Protection</a:t>
            </a:r>
            <a:endParaRPr sz="1600"/>
          </a:p>
          <a:p>
            <a:pPr>
              <a:defRPr sz="1100">
                <a:solidFill>
                  <a:srgbClr val="94A3B8"/>
                </a:solidFill>
              </a:defRPr>
            </a:pPr>
            <a:r>
              <a:rPr sz="1400"/>
              <a:t>API secrets and database keys isolated via .env configuration.</a:t>
            </a:r>
            <a:endParaRPr sz="1400"/>
          </a:p>
        </p:txBody>
      </p:sp>
      <p:sp>
        <p:nvSpPr>
          <p:cNvPr id="9" name="Rounded Rectangle 8"/>
          <p:cNvSpPr/>
          <p:nvPr/>
        </p:nvSpPr>
        <p:spPr>
          <a:xfrm>
            <a:off x="6229350" y="1361440"/>
            <a:ext cx="5486400" cy="5029200"/>
          </a:xfrm>
          <a:prstGeom prst="roundRect">
            <a:avLst/>
          </a:prstGeom>
          <a:solidFill>
            <a:srgbClr val="18202F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/>
          </a:p>
          <a:p>
            <a:pPr algn="ctr"/>
            <a:endParaRPr lang="en-US" altLang="en-US"/>
          </a:p>
          <a:p>
            <a:pPr algn="ctr"/>
          </a:p>
        </p:txBody>
      </p:sp>
      <p:sp>
        <p:nvSpPr>
          <p:cNvPr id="10" name="TextBox 7"/>
          <p:cNvSpPr txBox="1"/>
          <p:nvPr/>
        </p:nvSpPr>
        <p:spPr>
          <a:xfrm>
            <a:off x="6412230" y="1740535"/>
            <a:ext cx="5120640" cy="3389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18CF8"/>
                </a:solidFill>
              </a:defRPr>
            </a:pPr>
            <a:r>
              <a:rPr lang="en-US" sz="3200"/>
              <a:t>Why PennyWise matters?</a:t>
            </a:r>
            <a:endParaRPr sz="3200"/>
          </a:p>
          <a:p>
            <a:pPr algn="ctr">
              <a:spcBef>
                <a:spcPts val="1000"/>
              </a:spcBef>
              <a:defRPr sz="1300" b="1">
                <a:solidFill>
                  <a:srgbClr val="F8FAFC"/>
                </a:solidFill>
              </a:defRPr>
            </a:pPr>
            <a:r>
              <a:rPr lang="en-US" altLang="en-US" sz="2000"/>
              <a:t>“PennyWise combines financial management, behavioral intelligence and gamification to help users understand not only where their money goes, but why they spend it — and how today's decisions affect tomorrow's goals."</a:t>
            </a:r>
            <a:endParaRPr lang="en-US" altLang="en-US" sz="2000"/>
          </a:p>
          <a:p>
            <a:pPr algn="ctr">
              <a:defRPr sz="1100">
                <a:solidFill>
                  <a:srgbClr val="94A3B8"/>
                </a:solidFill>
              </a:defRPr>
            </a:pPr>
            <a:endParaRPr sz="1800"/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rPr lang="en-US" altLang="en-US" sz="1800" b="1">
                <a:solidFill>
                  <a:schemeClr val="bg1"/>
                </a:solidFill>
              </a:rPr>
              <a:t>SPEND → UNDERSTAND → DECIDE → SAVE → ACHIEVE</a:t>
            </a:r>
            <a:endParaRPr lang="en-US" altLang="en-US" sz="18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g_4_1_dashboar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731520"/>
            <a:ext cx="9448495" cy="53035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26160" y="636905"/>
            <a:ext cx="10139045" cy="5398135"/>
          </a:xfrm>
          <a:prstGeom prst="roundRect">
            <a:avLst/>
          </a:prstGeom>
          <a:solidFill>
            <a:srgbClr val="0B0F19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31340" y="1600200"/>
            <a:ext cx="7985455" cy="2322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818CF8"/>
                </a:solidFill>
              </a:defRPr>
            </a:pPr>
            <a:r>
              <a:t>PennyWise</a:t>
            </a:r>
          </a:p>
          <a:p>
            <a:pPr algn="ctr">
              <a:spcAft>
                <a:spcPts val="2000"/>
              </a:spcAft>
              <a:defRPr sz="1800" b="1">
                <a:solidFill>
                  <a:srgbClr val="34D399"/>
                </a:solidFill>
              </a:defRPr>
            </a:pPr>
            <a:r>
              <a:t>Spend </a:t>
            </a:r>
            <a:r>
              <a:rPr lang="en-US"/>
              <a:t>your Pennies Wisely</a:t>
            </a:r>
          </a:p>
          <a:p>
            <a:pPr algn="ctr">
              <a:spcAft>
                <a:spcPts val="1000"/>
              </a:spcAft>
              <a:defRPr sz="3600" b="1">
                <a:solidFill>
                  <a:srgbClr val="F8FAFC"/>
                </a:solidFill>
              </a:defRPr>
            </a:pPr>
            <a:r>
              <a:t>Thank You!</a:t>
            </a:r>
          </a:p>
          <a:p>
            <a:pPr algn="ctr">
              <a:defRPr sz="2200" b="1">
                <a:solidFill>
                  <a:srgbClr val="38BDF8"/>
                </a:solidFill>
              </a:defRPr>
            </a:pPr>
            <a:r>
              <a:t>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5293</Words>
  <Application>WPS Presentation</Application>
  <PresentationFormat>On-screen Show (4:3)</PresentationFormat>
  <Paragraphs>189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Sneha Sinha</cp:lastModifiedBy>
  <cp:revision>2</cp:revision>
  <dcterms:created xsi:type="dcterms:W3CDTF">2013-01-27T09:14:00Z</dcterms:created>
  <dcterms:modified xsi:type="dcterms:W3CDTF">2026-08-16T11:06:29Z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C2D3136089DC443AA427E2F3C84D080D_12</vt:lpwstr>
  </property>
</Properties>
</file>