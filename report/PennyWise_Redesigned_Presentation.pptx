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600" b="1">
                <a:solidFill>
                  <a:srgbClr val="818CF8"/>
                </a:solidFill>
              </a:defRPr>
            </a:pPr>
            <a:r>
              <a:t>PennyWise</a:t>
            </a:r>
          </a:p>
          <a:p>
            <a:pPr>
              <a:spcAft>
                <a:spcPts val="1400"/>
              </a:spcAft>
              <a:defRPr sz="1800" b="1">
                <a:solidFill>
                  <a:srgbClr val="34D399"/>
                </a:solidFill>
              </a:defRPr>
            </a:pPr>
            <a:r>
              <a:t>Spend smarter. Think better. Save more.</a:t>
            </a:r>
          </a:p>
          <a:p>
            <a:pPr>
              <a:spcAft>
                <a:spcPts val="3600"/>
              </a:spcAft>
              <a:defRPr sz="2200" b="1">
                <a:solidFill>
                  <a:srgbClr val="F8FAFC"/>
                </a:solidFill>
              </a:defRPr>
            </a:pPr>
            <a:r>
              <a:t>AI-Powered Personal Finance &amp;</a:t>
            </a:r>
            <a:br/>
            <a:r>
              <a:t>Behavioral Economics Platform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4206240"/>
            <a:ext cx="4937760" cy="192024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3434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Presented by:</a:t>
            </a:r>
          </a:p>
          <a:p>
            <a:pPr>
              <a:spcAft>
                <a:spcPts val="600"/>
              </a:spcAft>
              <a:defRPr sz="1800" b="1">
                <a:solidFill>
                  <a:srgbClr val="34D399"/>
                </a:solidFill>
              </a:defRPr>
            </a:pPr>
            <a:r>
              <a:t>Sneha  |  Roll No: 2305495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B.Tech Computer Science &amp; Engineering</a:t>
            </a:r>
            <a:br/>
            <a:r>
              <a:t>School of Computer Engineering</a:t>
            </a:r>
            <a:br/>
            <a:r>
              <a:t>KIIT Deemed to be University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822960"/>
            <a:ext cx="5669280" cy="530352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4_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914400"/>
            <a:ext cx="54864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Problem vs. PennyWise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02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754880" cy="484632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7171"/>
                </a:solidFill>
              </a:defRPr>
            </a:pPr>
            <a:r>
              <a:t>THE PROBLEM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Static Numbers Only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Traditional finance apps record transactions without explaining underlying behavioral causes.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Ignored Emotional Triggers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Impulse purchases driven by stress, boredom, or peer pressure are completely overlooked.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Hidden Goal Impact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Users cannot visualize how small daily expenses delay long-term savings goals.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No Active Intervention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No real-time cooling off or decision support before an impulse transaction occurs.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3291840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</a:defRPr>
            </a:pPr>
            <a:r>
              <a:t>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371600"/>
            <a:ext cx="4754880" cy="484632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PENNYWISE SOLUTION</a:t>
            </a:r>
          </a:p>
          <a:p>
            <a:pPr>
              <a:spcBef>
                <a:spcPts val="1000"/>
              </a:spcBef>
              <a:defRPr sz="1300" b="1">
                <a:solidFill>
                  <a:srgbClr val="34D399"/>
                </a:solidFill>
              </a:defRPr>
            </a:pPr>
            <a:r>
              <a:t>✓ Behavioral Finance + AI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Combines transaction records with psychological mood tracking &amp; financial health scoring.</a:t>
            </a:r>
          </a:p>
          <a:p>
            <a:pPr>
              <a:spcBef>
                <a:spcPts val="1000"/>
              </a:spcBef>
              <a:defRPr sz="1300" b="1">
                <a:solidFill>
                  <a:srgbClr val="34D399"/>
                </a:solidFill>
              </a:defRPr>
            </a:pPr>
            <a:r>
              <a:t>✓ Transparent Regret Predictor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Computes a 0–100 risk score based on 6 weighted financial &amp; behavioral components.</a:t>
            </a:r>
          </a:p>
          <a:p>
            <a:pPr>
              <a:spcBef>
                <a:spcPts val="1000"/>
              </a:spcBef>
              <a:defRPr sz="1300" b="1">
                <a:solidFill>
                  <a:srgbClr val="34D399"/>
                </a:solidFill>
              </a:defRPr>
            </a:pPr>
            <a:r>
              <a:t>✓ Impulse Lock &amp; AI Advisor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Enforces a 30-second cooling-off timer with real-time affordability analysis.</a:t>
            </a:r>
          </a:p>
          <a:p>
            <a:pPr>
              <a:spcBef>
                <a:spcPts val="1000"/>
              </a:spcBef>
              <a:defRPr sz="1300" b="1">
                <a:solidFill>
                  <a:srgbClr val="34D399"/>
                </a:solidFill>
              </a:defRPr>
            </a:pPr>
            <a:r>
              <a:t>✓ Gamified Progression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Drives savings discipline through XP, levels, badges, and daily savings missions.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 &amp; Engineering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03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713232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3_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94944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863840" y="1280160"/>
            <a:ext cx="3749039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3832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Tech Stack Summary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Presentation Layer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HTML5, CSS3 Glassmorphic UI, Vanilla JavaScript SPA Controller, Chart.js Visualizations.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Application Backend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Node.js REST API, Express.js Middleware Stack, JWT Auth Guard, bcrypt Hashing.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Behavioral AI Engine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6-Weight Regret Risk Engine, Should I Buy It Advisor, Opportunity Cost Simulator.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Persistence &amp; Reports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SQLite Relational Database (finpilot.db, 21 Tables), PDFKit Report Generator.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Use Case Model &amp; Data-Flow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04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3_2_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12064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26480" y="1280160"/>
            <a:ext cx="548640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3_4_data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Financial Command Center &amp;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7498079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4_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31520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280160"/>
            <a:ext cx="338328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18CF8"/>
                </a:solidFill>
              </a:defRPr>
            </a:pPr>
            <a:r>
              <a:t>Key Indicators</a:t>
            </a:r>
          </a:p>
          <a:p>
            <a:pPr>
              <a:spcBef>
                <a:spcPts val="1000"/>
              </a:spcBef>
              <a:defRPr sz="1300" b="1">
                <a:solidFill>
                  <a:srgbClr val="34D399"/>
                </a:solidFill>
              </a:defRPr>
            </a:pPr>
            <a:r>
              <a:t>• Financial Health Score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Calculated 0-100 score from savings rate, impulse frequency &amp; mood stability.</a:t>
            </a:r>
          </a:p>
          <a:p>
            <a:pPr>
              <a:spcBef>
                <a:spcPts val="1000"/>
              </a:spcBef>
              <a:defRPr sz="1300" b="1">
                <a:solidFill>
                  <a:srgbClr val="34D399"/>
                </a:solidFill>
              </a:defRPr>
            </a:pPr>
            <a:r>
              <a:t>• Take-Home Income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Calculates net balance after fixed payroll &amp; tax deductions.</a:t>
            </a:r>
          </a:p>
          <a:p>
            <a:pPr>
              <a:spcBef>
                <a:spcPts val="1000"/>
              </a:spcBef>
              <a:defRPr sz="1300" b="1">
                <a:solidFill>
                  <a:srgbClr val="34D399"/>
                </a:solidFill>
              </a:defRPr>
            </a:pPr>
            <a:r>
              <a:t>• Monthly Spending Trend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Compares current vs. previous month expenses by category.</a:t>
            </a:r>
          </a:p>
          <a:p>
            <a:pPr>
              <a:spcBef>
                <a:spcPts val="1000"/>
              </a:spcBef>
              <a:defRPr sz="1300" b="1">
                <a:solidFill>
                  <a:srgbClr val="34D399"/>
                </a:solidFill>
              </a:defRPr>
            </a:pPr>
            <a:r>
              <a:t>• Impulse &amp; Mood Tracker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Maps spending to emotional states (Happy, Stressed, Bored).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AI Behavior Suite &amp; Decision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06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7498079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4_5_ai_su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31520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280160"/>
            <a:ext cx="338328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8 AI Decision Tools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Should I Buy It? Advisor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Evaluates affordability against active savings goals.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Regret Predictor Engine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6-weighted risk score with goal delay estimates.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Opportunity Cost Tools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Translates price into daily coffee/meal equivalents.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Future Savings Simulator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Models 1 &amp; 5-year savings from category cutbacks.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Hidden Expense Detector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Identifies micro-spending accumulation.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Weekly Spending Roast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Generates humorous behavioral observations.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Regret Predictor Engine — 6 Weighted Component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07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7498079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4_7_regret_predi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31520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280160"/>
            <a:ext cx="338328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7171"/>
                </a:solidFill>
              </a:defRPr>
            </a:pPr>
            <a:r>
              <a:t>Weighted Risk Model</a:t>
            </a:r>
          </a:p>
          <a:p>
            <a:pPr>
              <a:spcBef>
                <a:spcPts val="600"/>
              </a:spcBef>
              <a:defRPr sz="1200" b="1">
                <a:solidFill>
                  <a:srgbClr val="FBBF24"/>
                </a:solidFill>
              </a:defRPr>
            </a:pPr>
            <a:r>
              <a:t>• Income Risk (25%)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Price vs. monthly take-home pay.</a:t>
            </a:r>
          </a:p>
          <a:p>
            <a:pPr>
              <a:spcBef>
                <a:spcPts val="600"/>
              </a:spcBef>
              <a:defRPr sz="1200" b="1">
                <a:solidFill>
                  <a:srgbClr val="FBBF24"/>
                </a:solidFill>
              </a:defRPr>
            </a:pPr>
            <a:r>
              <a:t>• Category Risk (20%)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Historical category regret rates.</a:t>
            </a:r>
          </a:p>
          <a:p>
            <a:pPr>
              <a:spcBef>
                <a:spcPts val="600"/>
              </a:spcBef>
              <a:defRPr sz="1200" b="1">
                <a:solidFill>
                  <a:srgbClr val="FBBF24"/>
                </a:solidFill>
              </a:defRPr>
            </a:pPr>
            <a:r>
              <a:t>• Mood Risk (15%)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Emotional state (Stressed/Bored).</a:t>
            </a:r>
          </a:p>
          <a:p>
            <a:pPr>
              <a:spcBef>
                <a:spcPts val="600"/>
              </a:spcBef>
              <a:defRPr sz="1200" b="1">
                <a:solidFill>
                  <a:srgbClr val="FBBF24"/>
                </a:solidFill>
              </a:defRPr>
            </a:pPr>
            <a:r>
              <a:t>• Impulse Risk (15%)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Unplanned purchase flag.</a:t>
            </a:r>
          </a:p>
          <a:p>
            <a:pPr>
              <a:spcBef>
                <a:spcPts val="600"/>
              </a:spcBef>
              <a:defRPr sz="1200" b="1">
                <a:solidFill>
                  <a:srgbClr val="FBBF24"/>
                </a:solidFill>
              </a:defRPr>
            </a:pPr>
            <a:r>
              <a:t>• Goal Delay Risk (15%)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Impact on active Dream Goals.</a:t>
            </a:r>
          </a:p>
          <a:p>
            <a:pPr>
              <a:spcBef>
                <a:spcPts val="600"/>
              </a:spcBef>
              <a:defRPr sz="1200" b="1">
                <a:solidFill>
                  <a:srgbClr val="FBBF24"/>
                </a:solidFill>
              </a:defRPr>
            </a:pPr>
            <a:r>
              <a:t>• Purchase History (10%)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Prior satisfaction feedback score.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Dream Savings Goals &amp; Level Progression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08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7498079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4_8_dream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31520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280160"/>
            <a:ext cx="338328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Goal Progression Levels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Penny Beginner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0% - 19% saved toward target.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Budget Explorer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20% - 39% saved toward target.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Treasure Hunter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40% - 59% saved toward target.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Savings Knight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60% - 79% saved toward target.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Wealth Wizard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80% - 99% saved toward target.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Financial Legend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100% Goal Reached &amp; Unlocked!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Subscription Killer &amp; Gamification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09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4_9_subscri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12064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26480" y="1280160"/>
            <a:ext cx="548640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4_10_gam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PennyWise in Action — End-to-End Decision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468880" cy="201168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</a:defRPr>
            </a:pPr>
            <a:r>
              <a:t>1. User Intent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User encounters an unplanned item (e.g. $250 Sneakers).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463040"/>
            <a:ext cx="2468880" cy="201168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60020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2. Cooling-Off Lock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Impulse Lock activates a 30-second cooling-off timer.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201168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0020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7171"/>
                </a:solidFill>
              </a:defRPr>
            </a:pPr>
            <a:r>
              <a:t>3. AI Risk Analysis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Regret Predictor evaluates 6 risk weights &amp; affordability.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463040"/>
            <a:ext cx="2468880" cy="201168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60020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4. Decision &amp; Savings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User reviews advice, cancels purchase, and earns XP!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11064240" cy="256032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4_6_buy_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0"/>
            <a:ext cx="108813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18CF8"/>
                </a:solidFill>
              </a:defRPr>
            </a:pPr>
            <a:r>
              <a:t>PENNYWISE  •  AI-POWERED PERSONAL FINANCE &amp; BEHAVIORAL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Testing &amp; Quality Assurance — 100%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004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</a:defRPr>
            </a:pPr>
            <a:r>
              <a:t>11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49377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34D399"/>
                </a:solidFill>
              </a:defRPr>
            </a:pPr>
            <a:r>
              <a:t>27 / 27 PASS</a:t>
            </a:r>
          </a:p>
          <a:p>
            <a:pPr>
              <a:spcAft>
                <a:spcPts val="1600"/>
              </a:spcAft>
              <a:defRPr sz="1300" b="1">
                <a:solidFill>
                  <a:srgbClr val="F8FAFC"/>
                </a:solidFill>
              </a:defRPr>
            </a:pPr>
            <a:r>
              <a:t>100% Automated Test Pass Rate across 5 Jest Test Suites</a:t>
            </a:r>
          </a:p>
          <a:p>
            <a:pPr>
              <a:spcBef>
                <a:spcPts val="400"/>
              </a:spcBef>
              <a:defRPr sz="1200" b="1">
                <a:solidFill>
                  <a:srgbClr val="34D399"/>
                </a:solidFill>
              </a:defRPr>
            </a:pPr>
            <a:r>
              <a:t>✓ Authentication Unit Tests (8 / 8 Passed)</a:t>
            </a:r>
          </a:p>
          <a:p>
            <a:pPr>
              <a:spcBef>
                <a:spcPts val="400"/>
              </a:spcBef>
              <a:defRPr sz="1200" b="1">
                <a:solidFill>
                  <a:srgbClr val="34D399"/>
                </a:solidFill>
              </a:defRPr>
            </a:pPr>
            <a:r>
              <a:t>✓ Expenses CRUD Unit Tests (5 / 5 Passed)</a:t>
            </a:r>
          </a:p>
          <a:p>
            <a:pPr>
              <a:spcBef>
                <a:spcPts val="400"/>
              </a:spcBef>
              <a:defRPr sz="1200" b="1">
                <a:solidFill>
                  <a:srgbClr val="34D399"/>
                </a:solidFill>
              </a:defRPr>
            </a:pPr>
            <a:r>
              <a:t>✓ Budgeting &amp; Reports Tests (5 / 5 Passed)</a:t>
            </a:r>
          </a:p>
          <a:p>
            <a:pPr>
              <a:spcBef>
                <a:spcPts val="400"/>
              </a:spcBef>
              <a:defRPr sz="1200" b="1">
                <a:solidFill>
                  <a:srgbClr val="34D399"/>
                </a:solidFill>
              </a:defRPr>
            </a:pPr>
            <a:r>
              <a:t>✓ AI Behavior Suite Tests (6 / 6 Passed)</a:t>
            </a:r>
          </a:p>
          <a:p>
            <a:pPr>
              <a:spcBef>
                <a:spcPts val="400"/>
              </a:spcBef>
              <a:defRPr sz="1200" b="1">
                <a:solidFill>
                  <a:srgbClr val="34D399"/>
                </a:solidFill>
              </a:defRPr>
            </a:pPr>
            <a:r>
              <a:t>✓ System E2E Workflows (3 / 3 Passed)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280160"/>
            <a:ext cx="5486400" cy="5029200"/>
          </a:xfrm>
          <a:prstGeom prst="roundRect">
            <a:avLst/>
          </a:prstGeom>
          <a:solidFill>
            <a:srgbClr val="18202F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46304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18CF8"/>
                </a:solidFill>
              </a:defRPr>
            </a:pPr>
            <a:r>
              <a:t>Security &amp; Isolation Standards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JWT Authentication Guard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Protects all REST API endpoints. Unauthenticated requests are rejected with 401/403.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Bcrypt Password Encryption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Passwords hashed with multi-round salt. Plaintext passwords never stored.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Strict User Data Isolation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All SQL queries parameterized with user_id to prevent multi-tenant data leaks.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Cascading Foreign Keys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Account deletion cascades cleanly across all 21 tables without orphaned records.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Environment Secret Protection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API secrets and database keys isolated via .env configuration.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_4_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731520"/>
            <a:ext cx="9448495" cy="530352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828800" y="1097280"/>
            <a:ext cx="8534095" cy="4663440"/>
          </a:xfrm>
          <a:prstGeom prst="roundRect">
            <a:avLst/>
          </a:prstGeom>
          <a:solidFill>
            <a:srgbClr val="0B0F19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1645920"/>
            <a:ext cx="79854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18CF8"/>
                </a:solidFill>
              </a:defRPr>
            </a:pPr>
            <a:r>
              <a:t>PennyWise</a:t>
            </a:r>
          </a:p>
          <a:p>
            <a:pPr algn="ctr">
              <a:spcAft>
                <a:spcPts val="2000"/>
              </a:spcAft>
              <a:defRPr sz="1800" b="1">
                <a:solidFill>
                  <a:srgbClr val="34D399"/>
                </a:solidFill>
              </a:defRPr>
            </a:pPr>
            <a:r>
              <a:t>Spend smarter. Think better. Save more.</a:t>
            </a:r>
          </a:p>
          <a:p>
            <a:pPr algn="ctr">
              <a:spcAft>
                <a:spcPts val="1000"/>
              </a:spcAft>
              <a:defRPr sz="36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 algn="ctr">
              <a:defRPr sz="2200" b="1">
                <a:solidFill>
                  <a:srgbClr val="38BDF8"/>
                </a:solidFill>
              </a:defRPr>
            </a:pPr>
            <a:r>
              <a:t>Questions &amp;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